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lay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D6AB562-BFFB-43DB-AFC9-592E555EACAE}">
  <a:tblStyle styleId="{CD6AB562-BFFB-43DB-AFC9-592E555EACA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Play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ad6b030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dad6b0306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ad6b0306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dad6b0306a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ad6b0306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dad6b0306a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ad6b0306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dad6b0306a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figma.com/design/RPL0f2QJxO43FwXdt1Aabr/Workday-Project?node-id=0-1&amp;t=Bhkq9xlFAs7eM9au-1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40080" y="914400"/>
            <a:ext cx="109728" cy="1737360"/>
          </a:xfrm>
          <a:prstGeom prst="rect">
            <a:avLst/>
          </a:prstGeom>
          <a:solidFill>
            <a:srgbClr val="D1A12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914400" y="868675"/>
            <a:ext cx="9017400" cy="19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63463"/>
                </a:solidFill>
                <a:latin typeface="Play"/>
                <a:ea typeface="Play"/>
                <a:cs typeface="Play"/>
                <a:sym typeface="Play"/>
              </a:rPr>
              <a:t>Improve Gallaudet Workday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3563BE"/>
                </a:solidFill>
                <a:latin typeface="Arial"/>
                <a:ea typeface="Arial"/>
                <a:cs typeface="Arial"/>
                <a:sym typeface="Arial"/>
              </a:rPr>
              <a:t>AHC 621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62B35"/>
                </a:solidFill>
                <a:latin typeface="Arial"/>
                <a:ea typeface="Arial"/>
                <a:cs typeface="Arial"/>
                <a:sym typeface="Arial"/>
              </a:rPr>
              <a:t>Access Innovators</a:t>
            </a:r>
            <a:br>
              <a:rPr lang="en-US" sz="1800">
                <a:solidFill>
                  <a:srgbClr val="262B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262B35"/>
                </a:solidFill>
                <a:latin typeface="Arial"/>
                <a:ea typeface="Arial"/>
                <a:cs typeface="Arial"/>
                <a:sym typeface="Arial"/>
              </a:rPr>
              <a:t>Emeka and Amy</a:t>
            </a:r>
            <a:endParaRPr sz="16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62B35"/>
                </a:solidFill>
                <a:latin typeface="Arial"/>
                <a:ea typeface="Arial"/>
                <a:cs typeface="Arial"/>
                <a:sym typeface="Arial"/>
              </a:rPr>
              <a:t>Redesigning class registration and override requests for</a:t>
            </a:r>
            <a:r>
              <a:rPr lang="en-US" sz="1900">
                <a:solidFill>
                  <a:srgbClr val="262B35"/>
                </a:solidFill>
              </a:rPr>
              <a:t> Gallaudet</a:t>
            </a:r>
            <a:r>
              <a:rPr lang="en-US" sz="1900">
                <a:solidFill>
                  <a:srgbClr val="262B35"/>
                </a:solidFill>
                <a:latin typeface="Arial"/>
                <a:ea typeface="Arial"/>
                <a:cs typeface="Arial"/>
                <a:sym typeface="Arial"/>
              </a:rPr>
              <a:t> students</a:t>
            </a:r>
            <a:r>
              <a:rPr lang="en-US" sz="1900">
                <a:solidFill>
                  <a:srgbClr val="262B35"/>
                </a:solidFill>
              </a:rPr>
              <a:t>.</a:t>
            </a:r>
            <a:endParaRPr sz="1600"/>
          </a:p>
        </p:txBody>
      </p:sp>
      <p:sp>
        <p:nvSpPr>
          <p:cNvPr id="86" name="Google Shape;86;p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46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63463"/>
                </a:solidFill>
                <a:latin typeface="Play"/>
                <a:ea typeface="Play"/>
                <a:cs typeface="Play"/>
                <a:sym typeface="Play"/>
              </a:rPr>
              <a:t>Milestone 1: Background and Problem Statement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640075" y="1097275"/>
            <a:ext cx="3657600" cy="3403800"/>
          </a:xfrm>
          <a:prstGeom prst="roundRect">
            <a:avLst>
              <a:gd fmla="val 16667" name="adj"/>
            </a:avLst>
          </a:prstGeom>
          <a:solidFill>
            <a:srgbClr val="F3F5F8"/>
          </a:solidFill>
          <a:ln cap="flat" cmpd="sng" w="9525">
            <a:solidFill>
              <a:srgbClr val="DBE0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700">
                <a:solidFill>
                  <a:srgbClr val="163463"/>
                </a:solidFill>
              </a:rPr>
              <a:t>Background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400"/>
              </a:spcBef>
              <a:spcAft>
                <a:spcPts val="0"/>
              </a:spcAft>
              <a:buClr>
                <a:srgbClr val="262B35"/>
              </a:buClr>
              <a:buSzPts val="1600"/>
              <a:buChar char="●"/>
            </a:pPr>
            <a:r>
              <a:rPr lang="en-US" sz="1600">
                <a:solidFill>
                  <a:srgbClr val="262B35"/>
                </a:solidFill>
              </a:rPr>
              <a:t>Gallaudet is a Deaf-centered university.</a:t>
            </a:r>
            <a:endParaRPr sz="1600">
              <a:solidFill>
                <a:srgbClr val="262B35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62B35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rgbClr val="262B35"/>
              </a:buClr>
              <a:buSzPts val="1600"/>
              <a:buChar char="●"/>
            </a:pPr>
            <a:r>
              <a:rPr lang="en-US" sz="1600">
                <a:solidFill>
                  <a:srgbClr val="262B35"/>
                </a:solidFill>
              </a:rPr>
              <a:t>Workday is required for class registration, schedules, and academic information.</a:t>
            </a:r>
            <a:endParaRPr sz="1600">
              <a:solidFill>
                <a:srgbClr val="262B35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62B35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rgbClr val="262B35"/>
              </a:buClr>
              <a:buSzPts val="1600"/>
              <a:buChar char="●"/>
            </a:pPr>
            <a:r>
              <a:rPr lang="en-US" sz="1600">
                <a:solidFill>
                  <a:srgbClr val="262B35"/>
                </a:solidFill>
              </a:rPr>
              <a:t>Students rely on it during time-sensitive registration periods.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4526275" y="1097275"/>
            <a:ext cx="3566100" cy="3403800"/>
          </a:xfrm>
          <a:prstGeom prst="roundRect">
            <a:avLst>
              <a:gd fmla="val 16667" name="adj"/>
            </a:avLst>
          </a:prstGeom>
          <a:solidFill>
            <a:srgbClr val="F3F5F8"/>
          </a:solidFill>
          <a:ln cap="flat" cmpd="sng" w="9525">
            <a:solidFill>
              <a:srgbClr val="DBE0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700">
                <a:solidFill>
                  <a:srgbClr val="BE4841"/>
                </a:solidFill>
              </a:rPr>
              <a:t>Problem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400"/>
              </a:spcBef>
              <a:spcAft>
                <a:spcPts val="0"/>
              </a:spcAft>
              <a:buClr>
                <a:srgbClr val="262B35"/>
              </a:buClr>
              <a:buSzPts val="1600"/>
              <a:buChar char="●"/>
            </a:pPr>
            <a:r>
              <a:rPr lang="en-US" sz="1600">
                <a:solidFill>
                  <a:srgbClr val="262B35"/>
                </a:solidFill>
              </a:rPr>
              <a:t>Some Workday tasks feel confusing and take too many steps.</a:t>
            </a:r>
            <a:endParaRPr sz="1600">
              <a:solidFill>
                <a:srgbClr val="262B35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62B35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rgbClr val="262B35"/>
              </a:buClr>
              <a:buSzPts val="1600"/>
              <a:buChar char="●"/>
            </a:pPr>
            <a:r>
              <a:rPr lang="en-US" sz="1600">
                <a:solidFill>
                  <a:srgbClr val="262B35"/>
                </a:solidFill>
              </a:rPr>
              <a:t>This can create stress and delay registration.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8229600" y="1097275"/>
            <a:ext cx="3337500" cy="3403800"/>
          </a:xfrm>
          <a:prstGeom prst="roundRect">
            <a:avLst>
              <a:gd fmla="val 16667" name="adj"/>
            </a:avLst>
          </a:prstGeom>
          <a:solidFill>
            <a:srgbClr val="F3F5F8"/>
          </a:solidFill>
          <a:ln cap="flat" cmpd="sng" w="9525">
            <a:solidFill>
              <a:srgbClr val="DBE0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700">
                <a:solidFill>
                  <a:srgbClr val="3563BE"/>
                </a:solidFill>
              </a:rPr>
              <a:t>Primary Users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400"/>
              </a:spcBef>
              <a:spcAft>
                <a:spcPts val="0"/>
              </a:spcAft>
              <a:buClr>
                <a:srgbClr val="262B35"/>
              </a:buClr>
              <a:buSzPts val="1600"/>
              <a:buChar char="●"/>
            </a:pPr>
            <a:r>
              <a:rPr lang="en-US" sz="1600">
                <a:solidFill>
                  <a:srgbClr val="262B35"/>
                </a:solidFill>
              </a:rPr>
              <a:t>Gallaudet Students</a:t>
            </a:r>
            <a:endParaRPr sz="1600">
              <a:solidFill>
                <a:srgbClr val="262B35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62B35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rgbClr val="262B35"/>
              </a:buClr>
              <a:buSzPts val="1600"/>
              <a:buChar char="●"/>
            </a:pPr>
            <a:r>
              <a:rPr lang="en-US" sz="1600">
                <a:solidFill>
                  <a:srgbClr val="262B35"/>
                </a:solidFill>
              </a:rPr>
              <a:t>Advisors and faculty</a:t>
            </a:r>
            <a:endParaRPr sz="1600">
              <a:solidFill>
                <a:srgbClr val="262B35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62B35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rgbClr val="262B35"/>
              </a:buClr>
              <a:buSzPts val="1600"/>
              <a:buChar char="●"/>
            </a:pPr>
            <a:r>
              <a:rPr lang="en-US" sz="1600">
                <a:solidFill>
                  <a:srgbClr val="262B35"/>
                </a:solidFill>
              </a:rPr>
              <a:t>University support staff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868680" y="4836330"/>
            <a:ext cx="10698600" cy="13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262B35"/>
                </a:solidFill>
              </a:rPr>
              <a:t>Goal:</a:t>
            </a:r>
            <a:r>
              <a:rPr lang="en-US" sz="1900">
                <a:solidFill>
                  <a:srgbClr val="262B3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>
                <a:solidFill>
                  <a:srgbClr val="262B35"/>
                </a:solidFill>
              </a:rPr>
              <a:t>U</a:t>
            </a:r>
            <a:r>
              <a:rPr lang="en-US" sz="1900">
                <a:solidFill>
                  <a:srgbClr val="262B35"/>
                </a:solidFill>
                <a:latin typeface="Arial"/>
                <a:ea typeface="Arial"/>
                <a:cs typeface="Arial"/>
                <a:sym typeface="Arial"/>
              </a:rPr>
              <a:t>nderstand where the workflow breaks down and redesign the process to be clearer, faster, and more supportive.</a:t>
            </a:r>
            <a:endParaRPr sz="1900"/>
          </a:p>
          <a:p>
            <a:pPr indent="0" lvl="0" marL="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262B35"/>
                </a:solidFill>
              </a:rPr>
              <a:t>Stakeholder priorities:</a:t>
            </a:r>
            <a:r>
              <a:rPr lang="en-US" sz="1900">
                <a:solidFill>
                  <a:srgbClr val="262B3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>
                <a:solidFill>
                  <a:srgbClr val="262B35"/>
                </a:solidFill>
              </a:rPr>
              <a:t>E</a:t>
            </a:r>
            <a:r>
              <a:rPr lang="en-US" sz="1900">
                <a:solidFill>
                  <a:srgbClr val="262B35"/>
                </a:solidFill>
                <a:latin typeface="Arial"/>
                <a:ea typeface="Arial"/>
                <a:cs typeface="Arial"/>
                <a:sym typeface="Arial"/>
              </a:rPr>
              <a:t>asier navigation, clearer instructions, visible progress, and better access to support.</a:t>
            </a:r>
            <a:endParaRPr sz="1900"/>
          </a:p>
        </p:txBody>
      </p:sp>
      <p:sp>
        <p:nvSpPr>
          <p:cNvPr id="96" name="Google Shape;96;p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46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63463"/>
                </a:solidFill>
                <a:latin typeface="Play"/>
                <a:ea typeface="Play"/>
                <a:cs typeface="Play"/>
                <a:sym typeface="Play"/>
              </a:rPr>
              <a:t>Milestone 1 to 2: Research Plan and Direction for Solutions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777240" y="1143000"/>
            <a:ext cx="5577900" cy="4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262B35"/>
                </a:solidFill>
              </a:rPr>
              <a:t>Research activities: </a:t>
            </a:r>
            <a:endParaRPr b="1" sz="1900">
              <a:solidFill>
                <a:srgbClr val="262B35"/>
              </a:solidFill>
            </a:endParaRPr>
          </a:p>
          <a:p>
            <a:pPr indent="-349250" lvl="0" marL="4572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62B35"/>
              </a:buClr>
              <a:buSzPts val="1900"/>
              <a:buChar char="●"/>
            </a:pPr>
            <a:r>
              <a:rPr lang="en-US" sz="1900">
                <a:solidFill>
                  <a:srgbClr val="262B35"/>
                </a:solidFill>
              </a:rPr>
              <a:t>T</a:t>
            </a:r>
            <a:r>
              <a:rPr lang="en-US" sz="1900">
                <a:solidFill>
                  <a:srgbClr val="262B35"/>
                </a:solidFill>
                <a:latin typeface="Arial"/>
                <a:ea typeface="Arial"/>
                <a:cs typeface="Arial"/>
                <a:sym typeface="Arial"/>
              </a:rPr>
              <a:t>ask observation and feedback collection from</a:t>
            </a:r>
            <a:r>
              <a:rPr lang="en-US" sz="1900">
                <a:solidFill>
                  <a:srgbClr val="262B35"/>
                </a:solidFill>
              </a:rPr>
              <a:t> Gallaudet</a:t>
            </a:r>
            <a:r>
              <a:rPr lang="en-US" sz="1900">
                <a:solidFill>
                  <a:srgbClr val="262B35"/>
                </a:solidFill>
                <a:latin typeface="Arial"/>
                <a:ea typeface="Arial"/>
                <a:cs typeface="Arial"/>
                <a:sym typeface="Arial"/>
              </a:rPr>
              <a:t> students</a:t>
            </a:r>
            <a:endParaRPr sz="1900">
              <a:solidFill>
                <a:srgbClr val="262B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262B35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262B35"/>
                </a:solidFill>
              </a:rPr>
              <a:t>Main task focus: </a:t>
            </a:r>
            <a:endParaRPr b="1" sz="1900">
              <a:solidFill>
                <a:srgbClr val="262B35"/>
              </a:solidFill>
            </a:endParaRPr>
          </a:p>
          <a:p>
            <a:pPr indent="-349250" lvl="0" marL="4572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262B35"/>
              </a:buClr>
              <a:buSzPts val="1900"/>
              <a:buChar char="●"/>
            </a:pPr>
            <a:r>
              <a:rPr lang="en-US" sz="1900">
                <a:solidFill>
                  <a:srgbClr val="262B35"/>
                </a:solidFill>
              </a:rPr>
              <a:t>C</a:t>
            </a:r>
            <a:r>
              <a:rPr lang="en-US" sz="1900">
                <a:solidFill>
                  <a:srgbClr val="262B35"/>
                </a:solidFill>
                <a:latin typeface="Arial"/>
                <a:ea typeface="Arial"/>
                <a:cs typeface="Arial"/>
                <a:sym typeface="Arial"/>
              </a:rPr>
              <a:t>ourse search, registration, class schedule review, and override requests.</a:t>
            </a:r>
            <a:endParaRPr sz="1900">
              <a:solidFill>
                <a:srgbClr val="262B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262B35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262B35"/>
                </a:solidFill>
              </a:rPr>
              <a:t>General design direction: </a:t>
            </a:r>
            <a:endParaRPr b="1" sz="1900">
              <a:solidFill>
                <a:srgbClr val="262B35"/>
              </a:solidFill>
            </a:endParaRPr>
          </a:p>
          <a:p>
            <a:pPr indent="-349250" lvl="0" marL="4572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262B35"/>
              </a:buClr>
              <a:buSzPts val="1900"/>
              <a:buChar char="●"/>
            </a:pPr>
            <a:r>
              <a:rPr lang="en-US" sz="1900">
                <a:solidFill>
                  <a:srgbClr val="262B35"/>
                </a:solidFill>
              </a:rPr>
              <a:t>R</a:t>
            </a:r>
            <a:r>
              <a:rPr lang="en-US" sz="1900">
                <a:solidFill>
                  <a:srgbClr val="262B35"/>
                </a:solidFill>
                <a:latin typeface="Arial"/>
                <a:ea typeface="Arial"/>
                <a:cs typeface="Arial"/>
                <a:sym typeface="Arial"/>
              </a:rPr>
              <a:t>educe extra clicks, combine related steps, and make next actions easier to understand.</a:t>
            </a:r>
            <a:endParaRPr sz="1900"/>
          </a:p>
        </p:txBody>
      </p:sp>
      <p:sp>
        <p:nvSpPr>
          <p:cNvPr id="103" name="Google Shape;103;p15"/>
          <p:cNvSpPr/>
          <p:nvPr/>
        </p:nvSpPr>
        <p:spPr>
          <a:xfrm>
            <a:off x="6720840" y="1417320"/>
            <a:ext cx="4754880" cy="3840480"/>
          </a:xfrm>
          <a:prstGeom prst="roundRect">
            <a:avLst>
              <a:gd fmla="val 16667" name="adj"/>
            </a:avLst>
          </a:prstGeom>
          <a:solidFill>
            <a:srgbClr val="F3F5F8"/>
          </a:solidFill>
          <a:ln cap="flat" cmpd="sng" w="9525">
            <a:solidFill>
              <a:srgbClr val="DBE0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900">
                <a:solidFill>
                  <a:srgbClr val="163463"/>
                </a:solidFill>
              </a:rPr>
              <a:t>What we wanted to improve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400"/>
              </a:spcBef>
              <a:spcAft>
                <a:spcPts val="0"/>
              </a:spcAft>
              <a:buClr>
                <a:srgbClr val="262B35"/>
              </a:buClr>
              <a:buSzPts val="1900"/>
              <a:buChar char="●"/>
            </a:pPr>
            <a:r>
              <a:rPr lang="en-US" sz="1900">
                <a:solidFill>
                  <a:srgbClr val="262B35"/>
                </a:solidFill>
              </a:rPr>
              <a:t>Navigation that feels more direct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600"/>
              </a:spcBef>
              <a:spcAft>
                <a:spcPts val="0"/>
              </a:spcAft>
              <a:buClr>
                <a:srgbClr val="262B35"/>
              </a:buClr>
              <a:buSzPts val="1900"/>
              <a:buChar char="●"/>
            </a:pPr>
            <a:r>
              <a:rPr lang="en-US" sz="1900">
                <a:solidFill>
                  <a:srgbClr val="262B35"/>
                </a:solidFill>
              </a:rPr>
              <a:t>Clear status messages and confirmation</a:t>
            </a:r>
            <a:endParaRPr sz="1900">
              <a:solidFill>
                <a:srgbClr val="262B35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262B35"/>
              </a:solidFill>
            </a:endParaRPr>
          </a:p>
          <a:p>
            <a:pPr indent="-349250" lvl="0" marL="457200" rtl="0" algn="l">
              <a:spcBef>
                <a:spcPts val="600"/>
              </a:spcBef>
              <a:spcAft>
                <a:spcPts val="0"/>
              </a:spcAft>
              <a:buClr>
                <a:srgbClr val="262B35"/>
              </a:buClr>
              <a:buSzPts val="1900"/>
              <a:buChar char="●"/>
            </a:pPr>
            <a:r>
              <a:rPr lang="en-US" sz="1900">
                <a:solidFill>
                  <a:srgbClr val="262B35"/>
                </a:solidFill>
              </a:rPr>
              <a:t>Reduce steps to register classes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libri"/>
              <a:buChar char="●"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46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63463"/>
                </a:solidFill>
                <a:latin typeface="Play"/>
                <a:ea typeface="Play"/>
                <a:cs typeface="Play"/>
                <a:sym typeface="Play"/>
              </a:rPr>
              <a:t>Milestone 2: Sketches and Early Concepts</a:t>
            </a: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7635250" y="1325874"/>
            <a:ext cx="38406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62B35"/>
                </a:solidFill>
                <a:latin typeface="Arial"/>
                <a:ea typeface="Arial"/>
                <a:cs typeface="Arial"/>
                <a:sym typeface="Arial"/>
              </a:rPr>
              <a:t>The sketches explored a simpler path from searching for a course to requesting an override.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62B35"/>
                </a:solidFill>
                <a:latin typeface="Arial"/>
                <a:ea typeface="Arial"/>
                <a:cs typeface="Arial"/>
                <a:sym typeface="Arial"/>
              </a:rPr>
              <a:t>We added visible steps, accessibility shortcuts, and clearer confirmation messages.</a:t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46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11612880" y="7026605"/>
            <a:ext cx="365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pic>
        <p:nvPicPr>
          <p:cNvPr id="113" name="Google Shape;113;p16"/>
          <p:cNvPicPr preferRelativeResize="0"/>
          <p:nvPr/>
        </p:nvPicPr>
        <p:blipFill rotWithShape="1">
          <a:blip r:embed="rId3">
            <a:alphaModFix/>
          </a:blip>
          <a:srcRect b="18865" l="0" r="0" t="25136"/>
          <a:stretch/>
        </p:blipFill>
        <p:spPr>
          <a:xfrm rot="-5400000">
            <a:off x="3305041" y="1697990"/>
            <a:ext cx="4584700" cy="3840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203" y="2684308"/>
            <a:ext cx="4936253" cy="321198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176200" y="5836225"/>
            <a:ext cx="7341300" cy="5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Early sketches showing a simpler Workday class registration and override process.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/>
        </p:nvSpPr>
        <p:spPr>
          <a:xfrm>
            <a:off x="640080" y="320040"/>
            <a:ext cx="5550750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63463"/>
                </a:solidFill>
                <a:latin typeface="Play"/>
                <a:ea typeface="Play"/>
                <a:cs typeface="Play"/>
                <a:sym typeface="Play"/>
              </a:rPr>
              <a:t>Milestones 3: Low-Fidelity Prototype</a:t>
            </a:r>
            <a:endParaRPr b="1" sz="2700">
              <a:solidFill>
                <a:srgbClr val="163463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46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w-fidelity prototype showing class search, registration, and override request flow." id="122" name="Google Shape;1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676" y="1289524"/>
            <a:ext cx="10628649" cy="456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/>
        </p:nvSpPr>
        <p:spPr>
          <a:xfrm>
            <a:off x="781675" y="5854400"/>
            <a:ext cx="106287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Low-fidelity prototype showing class search, registration, and override request flow.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/>
        </p:nvSpPr>
        <p:spPr>
          <a:xfrm>
            <a:off x="640080" y="320040"/>
            <a:ext cx="7413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63463"/>
                </a:solidFill>
                <a:latin typeface="Play"/>
                <a:ea typeface="Play"/>
                <a:cs typeface="Play"/>
                <a:sym typeface="Play"/>
              </a:rPr>
              <a:t>Milestones 4: Low-Fidelity Prototype Evaluation</a:t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0" y="6565392"/>
            <a:ext cx="12191700" cy="292500"/>
          </a:xfrm>
          <a:prstGeom prst="rect">
            <a:avLst/>
          </a:prstGeom>
          <a:solidFill>
            <a:srgbClr val="16346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457200" y="1508760"/>
            <a:ext cx="82296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</a:rPr>
              <a:t>Procedures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400"/>
              </a:spcBef>
              <a:spcAft>
                <a:spcPts val="0"/>
              </a:spcAft>
              <a:buClr>
                <a:srgbClr val="262B35"/>
              </a:buClr>
              <a:buSzPts val="1900"/>
              <a:buChar char="●"/>
            </a:pPr>
            <a:r>
              <a:rPr lang="en-US" sz="1900">
                <a:solidFill>
                  <a:srgbClr val="262B35"/>
                </a:solidFill>
              </a:rPr>
              <a:t>Tested with 8 participants with a test case</a:t>
            </a:r>
            <a:endParaRPr sz="1900">
              <a:solidFill>
                <a:srgbClr val="262B35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262B35"/>
              </a:buClr>
              <a:buSzPts val="1700"/>
              <a:buChar char="○"/>
            </a:pPr>
            <a:r>
              <a:rPr lang="en-US" sz="1700">
                <a:solidFill>
                  <a:srgbClr val="262B35"/>
                </a:solidFill>
              </a:rPr>
              <a:t>You are an AHCP student who is trying to register for 3 classes, AHC 601, AHC 602, and AHC 603, for Spring 2027.</a:t>
            </a:r>
            <a:endParaRPr sz="1700">
              <a:solidFill>
                <a:srgbClr val="262B35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62B35"/>
              </a:solidFill>
            </a:endParaRPr>
          </a:p>
          <a:p>
            <a:pPr indent="-349250" lvl="0" marL="457200" rtl="0" algn="l">
              <a:spcBef>
                <a:spcPts val="400"/>
              </a:spcBef>
              <a:spcAft>
                <a:spcPts val="0"/>
              </a:spcAft>
              <a:buClr>
                <a:srgbClr val="262B35"/>
              </a:buClr>
              <a:buSzPts val="1900"/>
              <a:buChar char="●"/>
            </a:pPr>
            <a:r>
              <a:rPr lang="en-US" sz="1900">
                <a:solidFill>
                  <a:srgbClr val="262B35"/>
                </a:solidFill>
              </a:rPr>
              <a:t>We </a:t>
            </a:r>
            <a:r>
              <a:rPr lang="en-US" sz="1900">
                <a:solidFill>
                  <a:srgbClr val="262B35"/>
                </a:solidFill>
              </a:rPr>
              <a:t>recorded how much time the participants took to complete their task</a:t>
            </a:r>
            <a:endParaRPr sz="1900">
              <a:solidFill>
                <a:srgbClr val="262B35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262B35"/>
              </a:solidFill>
            </a:endParaRPr>
          </a:p>
          <a:p>
            <a:pPr indent="-349250" lvl="0" marL="457200" rtl="0" algn="l">
              <a:spcBef>
                <a:spcPts val="400"/>
              </a:spcBef>
              <a:spcAft>
                <a:spcPts val="0"/>
              </a:spcAft>
              <a:buClr>
                <a:srgbClr val="262B35"/>
              </a:buClr>
              <a:buSzPts val="1900"/>
              <a:buChar char="●"/>
            </a:pPr>
            <a:r>
              <a:rPr lang="en-US" sz="1900">
                <a:solidFill>
                  <a:srgbClr val="262B35"/>
                </a:solidFill>
              </a:rPr>
              <a:t>Participants completed a post-evaluation survey</a:t>
            </a:r>
            <a:endParaRPr sz="1900">
              <a:solidFill>
                <a:srgbClr val="262B35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262B35"/>
              </a:solidFill>
            </a:endParaRPr>
          </a:p>
          <a:p>
            <a:pPr indent="-349250" lvl="0" marL="457200" rtl="0" algn="l">
              <a:spcBef>
                <a:spcPts val="400"/>
              </a:spcBef>
              <a:spcAft>
                <a:spcPts val="0"/>
              </a:spcAft>
              <a:buClr>
                <a:srgbClr val="262B35"/>
              </a:buClr>
              <a:buSzPts val="1900"/>
              <a:buChar char="●"/>
            </a:pPr>
            <a:r>
              <a:rPr lang="en-US" sz="1900">
                <a:solidFill>
                  <a:srgbClr val="262B35"/>
                </a:solidFill>
              </a:rPr>
              <a:t>Then we had a short open-ended discussion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/>
        </p:nvSpPr>
        <p:spPr>
          <a:xfrm>
            <a:off x="640080" y="320040"/>
            <a:ext cx="7413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63463"/>
                </a:solidFill>
                <a:latin typeface="Play"/>
                <a:ea typeface="Play"/>
                <a:cs typeface="Play"/>
                <a:sym typeface="Play"/>
              </a:rPr>
              <a:t>Milestones 4: Low-Fidelity Prototype Evaluation</a:t>
            </a:r>
            <a:endParaRPr/>
          </a:p>
        </p:txBody>
      </p:sp>
      <p:sp>
        <p:nvSpPr>
          <p:cNvPr id="136" name="Google Shape;136;p19"/>
          <p:cNvSpPr/>
          <p:nvPr/>
        </p:nvSpPr>
        <p:spPr>
          <a:xfrm>
            <a:off x="0" y="6565392"/>
            <a:ext cx="12191700" cy="292500"/>
          </a:xfrm>
          <a:prstGeom prst="rect">
            <a:avLst/>
          </a:prstGeom>
          <a:solidFill>
            <a:srgbClr val="16346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457200" y="1508760"/>
            <a:ext cx="82296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</a:rPr>
              <a:t>Survey Questions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US" sz="1900">
                <a:solidFill>
                  <a:schemeClr val="dk1"/>
                </a:solidFill>
              </a:rPr>
              <a:t>The interface is easy/hard to use.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US" sz="1900">
                <a:solidFill>
                  <a:schemeClr val="dk1"/>
                </a:solidFill>
              </a:rPr>
              <a:t>The interface is understandable.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US" sz="1900">
                <a:solidFill>
                  <a:schemeClr val="dk1"/>
                </a:solidFill>
              </a:rPr>
              <a:t>The registration process is understandable.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US" sz="1900">
                <a:solidFill>
                  <a:schemeClr val="dk1"/>
                </a:solidFill>
              </a:rPr>
              <a:t>How fast/slow is the process?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US" sz="1900">
                <a:solidFill>
                  <a:schemeClr val="dk1"/>
                </a:solidFill>
              </a:rPr>
              <a:t>From 1 to 10, how satisfied are you with the current design?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US" sz="1900">
                <a:solidFill>
                  <a:schemeClr val="dk1"/>
                </a:solidFill>
              </a:rPr>
              <a:t>Do you have any suggestions for improvement?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US" sz="1900">
                <a:solidFill>
                  <a:schemeClr val="dk1"/>
                </a:solidFill>
              </a:rPr>
              <a:t>Do you have any additional feedback?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/>
        </p:nvSpPr>
        <p:spPr>
          <a:xfrm>
            <a:off x="640080" y="320040"/>
            <a:ext cx="7413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63463"/>
                </a:solidFill>
                <a:latin typeface="Play"/>
                <a:ea typeface="Play"/>
                <a:cs typeface="Play"/>
                <a:sym typeface="Play"/>
              </a:rPr>
              <a:t>Milestones 4: Low-Fidelity Prototype Evaluation</a:t>
            </a:r>
            <a:endParaRPr/>
          </a:p>
        </p:txBody>
      </p:sp>
      <p:sp>
        <p:nvSpPr>
          <p:cNvPr id="143" name="Google Shape;143;p20"/>
          <p:cNvSpPr/>
          <p:nvPr/>
        </p:nvSpPr>
        <p:spPr>
          <a:xfrm>
            <a:off x="0" y="6565392"/>
            <a:ext cx="12191700" cy="292500"/>
          </a:xfrm>
          <a:prstGeom prst="rect">
            <a:avLst/>
          </a:prstGeom>
          <a:solidFill>
            <a:srgbClr val="16346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20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7250" y="1541275"/>
            <a:ext cx="6367500" cy="393723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5" name="Google Shape;145;p20"/>
          <p:cNvGraphicFramePr/>
          <p:nvPr/>
        </p:nvGraphicFramePr>
        <p:xfrm>
          <a:off x="693200" y="252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{CD6AB562-BFFB-43DB-AFC9-592E555EACAE}</a:tableStyleId>
              </a:tblPr>
              <a:tblGrid>
                <a:gridCol w="2365425"/>
                <a:gridCol w="1382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Average Score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Interface Usability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Interface</a:t>
                      </a:r>
                      <a:r>
                        <a:rPr lang="en-US"/>
                        <a:t> Understandability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4.25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Registration Process Understandability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3.75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Registration Process Speed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User Satisfaction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6.75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6" name="Google Shape;146;p20"/>
          <p:cNvSpPr txBox="1"/>
          <p:nvPr/>
        </p:nvSpPr>
        <p:spPr>
          <a:xfrm>
            <a:off x="898500" y="5528400"/>
            <a:ext cx="33369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table of averages for each 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survey question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A user satisfaction bar chart plotting how many users gave a specific user satisfaction score" id="147" name="Google Shape;147;p20"/>
          <p:cNvSpPr txBox="1"/>
          <p:nvPr/>
        </p:nvSpPr>
        <p:spPr>
          <a:xfrm>
            <a:off x="5027125" y="5528400"/>
            <a:ext cx="63675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user satisfaction bar chart plotting how many users gave a specific user satisfaction score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640075" y="1691450"/>
            <a:ext cx="27585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Time: 2 min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/>
        </p:nvSpPr>
        <p:spPr>
          <a:xfrm>
            <a:off x="457200" y="1508750"/>
            <a:ext cx="52212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</a:rPr>
              <a:t>Actions for High-Fidelity Prototype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Add more colors to make buttons and other elements standout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Better feedback system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E.g., make it easier for students to check their schedules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Show link to conflicting class, so the user can easily check the class before making decisions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640080" y="320040"/>
            <a:ext cx="7413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63463"/>
                </a:solidFill>
                <a:latin typeface="Play"/>
                <a:ea typeface="Play"/>
                <a:cs typeface="Play"/>
                <a:sym typeface="Play"/>
              </a:rPr>
              <a:t>Milestones 4: Low-Fidelity Prototype Evaluation</a:t>
            </a:r>
            <a:endParaRPr/>
          </a:p>
        </p:txBody>
      </p:sp>
      <p:sp>
        <p:nvSpPr>
          <p:cNvPr id="155" name="Google Shape;155;p21"/>
          <p:cNvSpPr/>
          <p:nvPr/>
        </p:nvSpPr>
        <p:spPr>
          <a:xfrm>
            <a:off x="0" y="6565392"/>
            <a:ext cx="12191700" cy="292500"/>
          </a:xfrm>
          <a:prstGeom prst="rect">
            <a:avLst/>
          </a:prstGeom>
          <a:solidFill>
            <a:srgbClr val="16346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/>
          <p:cNvSpPr txBox="1"/>
          <p:nvPr/>
        </p:nvSpPr>
        <p:spPr>
          <a:xfrm>
            <a:off x="6313800" y="2361000"/>
            <a:ext cx="50289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“I like that I can clearly see important information [on the homepage] in one place”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157" name="Google Shape;157;p21"/>
          <p:cNvSpPr txBox="1"/>
          <p:nvPr/>
        </p:nvSpPr>
        <p:spPr>
          <a:xfrm>
            <a:off x="6313800" y="3678875"/>
            <a:ext cx="58122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“it is very clear and simple, but I would like to see more color visible that easy for people know where to click next or guide to next step.”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63463"/>
                </a:solidFill>
                <a:latin typeface="Play"/>
                <a:ea typeface="Play"/>
                <a:cs typeface="Play"/>
                <a:sym typeface="Play"/>
              </a:rPr>
              <a:t>Live Prototype Walkthrough</a:t>
            </a:r>
            <a:endParaRPr/>
          </a:p>
        </p:txBody>
      </p:sp>
      <p:sp>
        <p:nvSpPr>
          <p:cNvPr id="163" name="Google Shape;163;p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46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2"/>
          <p:cNvSpPr txBox="1"/>
          <p:nvPr/>
        </p:nvSpPr>
        <p:spPr>
          <a:xfrm>
            <a:off x="640075" y="1611975"/>
            <a:ext cx="7095000" cy="21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Link to Prototype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/>
        </p:nvSpPr>
        <p:spPr>
          <a:xfrm>
            <a:off x="640080" y="320040"/>
            <a:ext cx="1097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63463"/>
                </a:solidFill>
                <a:latin typeface="Play"/>
                <a:ea typeface="Play"/>
                <a:cs typeface="Play"/>
                <a:sym typeface="Play"/>
              </a:rPr>
              <a:t>Future Work</a:t>
            </a:r>
            <a:endParaRPr/>
          </a:p>
        </p:txBody>
      </p:sp>
      <p:sp>
        <p:nvSpPr>
          <p:cNvPr id="170" name="Google Shape;170;p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46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3"/>
          <p:cNvSpPr txBox="1"/>
          <p:nvPr/>
        </p:nvSpPr>
        <p:spPr>
          <a:xfrm>
            <a:off x="457200" y="1508760"/>
            <a:ext cx="82296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Further refine the class registration process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Add more features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Academic plan page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Financial</a:t>
            </a:r>
            <a:r>
              <a:rPr lang="en-US" sz="1900">
                <a:solidFill>
                  <a:schemeClr val="dk1"/>
                </a:solidFill>
              </a:rPr>
              <a:t> aid page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Interview more users to better understand their needs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Test with more users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Include users with various disabilities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46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4"/>
          <p:cNvSpPr txBox="1"/>
          <p:nvPr/>
        </p:nvSpPr>
        <p:spPr>
          <a:xfrm>
            <a:off x="822950" y="1234446"/>
            <a:ext cx="1051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63463"/>
                </a:solidFill>
                <a:latin typeface="Play"/>
                <a:ea typeface="Play"/>
                <a:cs typeface="Play"/>
                <a:sym typeface="Play"/>
              </a:rPr>
              <a:t>Conclusion</a:t>
            </a:r>
            <a:endParaRPr/>
          </a:p>
        </p:txBody>
      </p:sp>
      <p:sp>
        <p:nvSpPr>
          <p:cNvPr id="178" name="Google Shape;178;p24"/>
          <p:cNvSpPr txBox="1"/>
          <p:nvPr/>
        </p:nvSpPr>
        <p:spPr>
          <a:xfrm>
            <a:off x="868680" y="1965960"/>
            <a:ext cx="10424100" cy="21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62B35"/>
                </a:solidFill>
                <a:latin typeface="Arial"/>
                <a:ea typeface="Arial"/>
                <a:cs typeface="Arial"/>
                <a:sym typeface="Arial"/>
              </a:rPr>
              <a:t>This project focused on a real challenge: helping </a:t>
            </a:r>
            <a:r>
              <a:rPr lang="en-US" sz="1900">
                <a:solidFill>
                  <a:srgbClr val="262B35"/>
                </a:solidFill>
              </a:rPr>
              <a:t>Gallaudet </a:t>
            </a:r>
            <a:r>
              <a:rPr lang="en-US" sz="1900">
                <a:solidFill>
                  <a:srgbClr val="262B35"/>
                </a:solidFill>
                <a:latin typeface="Arial"/>
                <a:ea typeface="Arial"/>
                <a:cs typeface="Arial"/>
                <a:sym typeface="Arial"/>
              </a:rPr>
              <a:t>students complete important Workday tasks with less stress and confusion.</a:t>
            </a:r>
            <a:endParaRPr sz="1900"/>
          </a:p>
          <a:p>
            <a:pPr indent="0" lvl="0" marL="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62B35"/>
                </a:solidFill>
                <a:latin typeface="Arial"/>
                <a:ea typeface="Arial"/>
                <a:cs typeface="Arial"/>
                <a:sym typeface="Arial"/>
              </a:rPr>
              <a:t>Across the milestones, we moved from problem definition to sketches, prototype testing, and a higher-fidelity redesign.</a:t>
            </a:r>
            <a:endParaRPr sz="1900"/>
          </a:p>
          <a:p>
            <a:pPr indent="0" lvl="0" marL="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62B35"/>
                </a:solidFill>
                <a:latin typeface="Arial"/>
                <a:ea typeface="Arial"/>
                <a:cs typeface="Arial"/>
                <a:sym typeface="Arial"/>
              </a:rPr>
              <a:t>The final concept shows that clearer navigation, visible progress, and </a:t>
            </a:r>
            <a:r>
              <a:rPr lang="en-US" sz="1900">
                <a:solidFill>
                  <a:srgbClr val="262B35"/>
                </a:solidFill>
              </a:rPr>
              <a:t>fewer steps to register classes</a:t>
            </a:r>
            <a:r>
              <a:rPr lang="en-US" sz="1900">
                <a:solidFill>
                  <a:srgbClr val="262B3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900"/>
          </a:p>
        </p:txBody>
      </p:sp>
      <p:sp>
        <p:nvSpPr>
          <p:cNvPr id="179" name="Google Shape;179;p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46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_bright_modern_indoor_scene_likely_a_college_un.png" id="184" name="Google Shape;18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56539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5"/>
          <p:cNvSpPr/>
          <p:nvPr/>
        </p:nvSpPr>
        <p:spPr>
          <a:xfrm>
            <a:off x="0" y="0"/>
            <a:ext cx="12191695" cy="6565392"/>
          </a:xfrm>
          <a:prstGeom prst="rect">
            <a:avLst/>
          </a:prstGeom>
          <a:solidFill>
            <a:srgbClr val="16346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5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Thank you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/>
          </a:p>
        </p:txBody>
      </p:sp>
      <p:sp>
        <p:nvSpPr>
          <p:cNvPr id="187" name="Google Shape;187;p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46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